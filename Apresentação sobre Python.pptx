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Montserrat Bold" charset="1" panose="00000800000000000000"/>
      <p:regular r:id="rId14"/>
    </p:embeddedFont>
    <p:embeddedFont>
      <p:font typeface="Glacial Indifference Bold" charset="1" panose="00000800000000000000"/>
      <p:regular r:id="rId15"/>
    </p:embeddedFont>
    <p:embeddedFont>
      <p:font typeface="Glacial Indifference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google.com/?utm_source=chatgpt.com" TargetMode="External" Type="http://schemas.openxmlformats.org/officeDocument/2006/relationships/hyperlink"/><Relationship Id="rId3" Target="https://www.netflix.com/?utm_source=chatgpt.com" TargetMode="External" Type="http://schemas.openxmlformats.org/officeDocument/2006/relationships/hyperlink"/><Relationship Id="rId4" Target="https://www.spotify.com/?utm_source=chatgpt.com" TargetMode="External" Type="http://schemas.openxmlformats.org/officeDocument/2006/relationships/hyperlink"/><Relationship Id="rId5" Target="https://www.instagram.com/?utm_source=chatgpt.com" TargetMode="External" Type="http://schemas.openxmlformats.org/officeDocument/2006/relationships/hyperlink"/><Relationship Id="rId6" Target="https://www.nasa.gov/?utm_source=chatgpt.com" TargetMode="External" Type="http://schemas.openxmlformats.org/officeDocument/2006/relationships/hyperlink"/><Relationship Id="rId7" Target="https://www.dropbox.com/?utm_source=chatgpt.com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0110E">
                <a:alpha val="100000"/>
              </a:srgbClr>
            </a:gs>
            <a:gs pos="100000">
              <a:srgbClr val="2E2C2A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700000">
            <a:off x="-6317600" y="5414639"/>
            <a:ext cx="21717672" cy="8407079"/>
            <a:chOff x="0" y="0"/>
            <a:chExt cx="5719881" cy="2214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19881" cy="2214210"/>
            </a:xfrm>
            <a:custGeom>
              <a:avLst/>
              <a:gdLst/>
              <a:ahLst/>
              <a:cxnLst/>
              <a:rect r="r" b="b" t="t" l="l"/>
              <a:pathLst>
                <a:path h="2214210" w="5719881">
                  <a:moveTo>
                    <a:pt x="0" y="0"/>
                  </a:moveTo>
                  <a:lnTo>
                    <a:pt x="5719881" y="0"/>
                  </a:lnTo>
                  <a:lnTo>
                    <a:pt x="5719881" y="2214210"/>
                  </a:lnTo>
                  <a:lnTo>
                    <a:pt x="0" y="2214210"/>
                  </a:lnTo>
                  <a:close/>
                </a:path>
              </a:pathLst>
            </a:custGeom>
            <a:solidFill>
              <a:srgbClr val="10110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5719881" cy="22427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-2987736" y="-1919134"/>
            <a:ext cx="15356713" cy="15356713"/>
          </a:xfrm>
          <a:prstGeom prst="line">
            <a:avLst/>
          </a:prstGeom>
          <a:ln cap="rnd" w="76200">
            <a:gradFill>
              <a:gsLst>
                <a:gs pos="0">
                  <a:srgbClr val="AF976B">
                    <a:alpha val="100000"/>
                  </a:srgbClr>
                </a:gs>
                <a:gs pos="100000">
                  <a:srgbClr val="79643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-3265623" y="-1641247"/>
            <a:ext cx="15356713" cy="15356713"/>
          </a:xfrm>
          <a:prstGeom prst="line">
            <a:avLst/>
          </a:prstGeom>
          <a:ln cap="rnd" w="76200">
            <a:gradFill>
              <a:gsLst>
                <a:gs pos="0">
                  <a:srgbClr val="AF976B">
                    <a:alpha val="100000"/>
                  </a:srgbClr>
                </a:gs>
                <a:gs pos="100000">
                  <a:srgbClr val="79643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5525460" y="2610368"/>
            <a:ext cx="11733840" cy="351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813"/>
              </a:lnSpc>
            </a:pPr>
            <a:r>
              <a:rPr lang="en-US" b="true" sz="11511">
                <a:gradFill>
                  <a:gsLst>
                    <a:gs pos="0">
                      <a:srgbClr val="AF976B">
                        <a:alpha val="100000"/>
                      </a:srgbClr>
                    </a:gs>
                    <a:gs pos="100000">
                      <a:srgbClr val="79643F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Apresentação </a:t>
            </a:r>
          </a:p>
          <a:p>
            <a:pPr algn="r">
              <a:lnSpc>
                <a:spcPts val="13813"/>
              </a:lnSpc>
            </a:pPr>
            <a:r>
              <a:rPr lang="en-US" b="true" sz="11511">
                <a:gradFill>
                  <a:gsLst>
                    <a:gs pos="0">
                      <a:srgbClr val="AF976B">
                        <a:alpha val="100000"/>
                      </a:srgbClr>
                    </a:gs>
                    <a:gs pos="100000">
                      <a:srgbClr val="79643F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sobre Python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05036" y="6372938"/>
            <a:ext cx="7063970" cy="4836339"/>
            <a:chOff x="0" y="0"/>
            <a:chExt cx="9418626" cy="644845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57150"/>
              <a:ext cx="9418626" cy="1091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719"/>
                </a:lnSpc>
                <a:spcBef>
                  <a:spcPct val="0"/>
                </a:spcBef>
              </a:pPr>
              <a:r>
                <a:rPr lang="en-US" b="true" sz="5169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Apresentado por: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283877"/>
              <a:ext cx="9418626" cy="51645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159"/>
                </a:lnSpc>
              </a:pPr>
              <a:r>
                <a:rPr lang="en-US" sz="4738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João Victor Véras</a:t>
              </a:r>
            </a:p>
            <a:p>
              <a:pPr algn="l">
                <a:lnSpc>
                  <a:spcPts val="6159"/>
                </a:lnSpc>
              </a:pPr>
              <a:r>
                <a:rPr lang="en-US" sz="4738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Gabriel Chirol</a:t>
              </a:r>
            </a:p>
            <a:p>
              <a:pPr algn="l">
                <a:lnSpc>
                  <a:spcPts val="6159"/>
                </a:lnSpc>
              </a:pPr>
              <a:r>
                <a:rPr lang="en-US" sz="4738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Pedro Coutinho Leone </a:t>
              </a:r>
            </a:p>
            <a:p>
              <a:pPr algn="l">
                <a:lnSpc>
                  <a:spcPts val="6159"/>
                </a:lnSpc>
              </a:pPr>
            </a:p>
            <a:p>
              <a:pPr algn="l" marL="0" indent="0" lvl="0">
                <a:lnSpc>
                  <a:spcPts val="61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0110E">
                <a:alpha val="100000"/>
              </a:srgbClr>
            </a:gs>
            <a:gs pos="100000">
              <a:srgbClr val="2E2C2A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-1714836" y="990600"/>
            <a:ext cx="21717672" cy="0"/>
          </a:xfrm>
          <a:prstGeom prst="line">
            <a:avLst/>
          </a:prstGeom>
          <a:ln cap="rnd" w="76200">
            <a:gradFill>
              <a:gsLst>
                <a:gs pos="0">
                  <a:srgbClr val="AF976B">
                    <a:alpha val="100000"/>
                  </a:srgbClr>
                </a:gs>
                <a:gs pos="100000">
                  <a:srgbClr val="79643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5400000">
            <a:off x="987538" y="3196297"/>
            <a:ext cx="658585" cy="576262"/>
            <a:chOff x="0" y="0"/>
            <a:chExt cx="812800" cy="711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F976B">
                    <a:alpha val="100000"/>
                  </a:srgbClr>
                </a:gs>
                <a:gs pos="100000">
                  <a:srgbClr val="79643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9144000" y="1345492"/>
            <a:ext cx="21717672" cy="0"/>
          </a:xfrm>
          <a:prstGeom prst="line">
            <a:avLst/>
          </a:prstGeom>
          <a:ln cap="rnd" w="76200">
            <a:gradFill>
              <a:gsLst>
                <a:gs pos="0">
                  <a:srgbClr val="AF976B">
                    <a:alpha val="100000"/>
                  </a:srgbClr>
                </a:gs>
                <a:gs pos="100000">
                  <a:srgbClr val="79643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2277401" y="3027215"/>
            <a:ext cx="14981899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6000">
                <a:gradFill>
                  <a:gsLst>
                    <a:gs pos="0">
                      <a:srgbClr val="AF976B">
                        <a:alpha val="100000"/>
                      </a:srgbClr>
                    </a:gs>
                    <a:gs pos="100000">
                      <a:srgbClr val="79643F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História da linguagem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437587"/>
            <a:ext cx="17008515" cy="5874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5"/>
              </a:lnSpc>
            </a:pPr>
            <a:r>
              <a:rPr lang="en-US" sz="3143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 história da linguagem Python começou no final dos anos 1980, criada por Guido van Rossum, um programador holandês que queria desenvolver uma linguagem simples, fácil de ler e eficiente. O primeiro lançamento oficial aconteceu em 1991. O nome “Python” não veio da cobra, mas sim do grupo de comédia britânico “Monty Python”.</a:t>
            </a:r>
          </a:p>
          <a:p>
            <a:pPr algn="l">
              <a:lnSpc>
                <a:spcPts val="4715"/>
              </a:lnSpc>
            </a:pPr>
          </a:p>
          <a:p>
            <a:pPr algn="l">
              <a:lnSpc>
                <a:spcPts val="4715"/>
              </a:lnSpc>
            </a:pPr>
            <a:r>
              <a:rPr lang="en-US" sz="3143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 linguagem foi criada para facilitar o desenvolvimento de programas, utilizando uma sintaxe mais limpa e organizada do que muitas linguagens da época. Com o passar dos anos, Python cresceu rapidamente e passou a ser usada em diversas áreas, como desenvolvimento web, inteligência artificial, ciência de dados, automação e criação de jogos.</a:t>
            </a:r>
          </a:p>
          <a:p>
            <a:pPr algn="l">
              <a:lnSpc>
                <a:spcPts val="4715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0110E">
                <a:alpha val="100000"/>
              </a:srgbClr>
            </a:gs>
            <a:gs pos="100000">
              <a:srgbClr val="2E2C2A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-1714836" y="990600"/>
            <a:ext cx="21717672" cy="0"/>
          </a:xfrm>
          <a:prstGeom prst="line">
            <a:avLst/>
          </a:prstGeom>
          <a:ln cap="rnd" w="76200">
            <a:gradFill>
              <a:gsLst>
                <a:gs pos="0">
                  <a:srgbClr val="AF976B">
                    <a:alpha val="100000"/>
                  </a:srgbClr>
                </a:gs>
                <a:gs pos="100000">
                  <a:srgbClr val="79643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5400000">
            <a:off x="987538" y="3196297"/>
            <a:ext cx="658585" cy="576262"/>
            <a:chOff x="0" y="0"/>
            <a:chExt cx="812800" cy="711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F976B">
                    <a:alpha val="100000"/>
                  </a:srgbClr>
                </a:gs>
                <a:gs pos="100000">
                  <a:srgbClr val="79643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9144000" y="1345492"/>
            <a:ext cx="21717672" cy="0"/>
          </a:xfrm>
          <a:prstGeom prst="line">
            <a:avLst/>
          </a:prstGeom>
          <a:ln cap="rnd" w="76200">
            <a:gradFill>
              <a:gsLst>
                <a:gs pos="0">
                  <a:srgbClr val="AF976B">
                    <a:alpha val="100000"/>
                  </a:srgbClr>
                </a:gs>
                <a:gs pos="100000">
                  <a:srgbClr val="79643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4437587"/>
            <a:ext cx="17008515" cy="2929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5"/>
              </a:lnSpc>
            </a:pPr>
            <a:r>
              <a:rPr lang="en-US" sz="3143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 Python possui várias características que a tornam uma das linguagens de programação mais populares do mundo. Sua principal característica é a sintaxe simples e fácil de entender, permitindo que iniciantes aprendam programação com mais facilidade. Além disso, Python é uma linguagem interpretada, ou seja, o código pode ser executado diretamente sem precisar de compilação.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77401" y="3027215"/>
            <a:ext cx="14981899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6000">
                <a:gradFill>
                  <a:gsLst>
                    <a:gs pos="0">
                      <a:srgbClr val="AF976B">
                        <a:alpha val="100000"/>
                      </a:srgbClr>
                    </a:gs>
                    <a:gs pos="100000">
                      <a:srgbClr val="79643F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 Principais características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0110E">
                <a:alpha val="100000"/>
              </a:srgbClr>
            </a:gs>
            <a:gs pos="100000">
              <a:srgbClr val="2E2C2A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-1714836" y="990600"/>
            <a:ext cx="21717672" cy="0"/>
          </a:xfrm>
          <a:prstGeom prst="line">
            <a:avLst/>
          </a:prstGeom>
          <a:ln cap="rnd" w="76200">
            <a:gradFill>
              <a:gsLst>
                <a:gs pos="0">
                  <a:srgbClr val="AF976B">
                    <a:alpha val="100000"/>
                  </a:srgbClr>
                </a:gs>
                <a:gs pos="100000">
                  <a:srgbClr val="79643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5400000">
            <a:off x="987538" y="3068389"/>
            <a:ext cx="658585" cy="576262"/>
            <a:chOff x="0" y="0"/>
            <a:chExt cx="812800" cy="711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F976B">
                    <a:alpha val="100000"/>
                  </a:srgbClr>
                </a:gs>
                <a:gs pos="100000">
                  <a:srgbClr val="79643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9144000" y="1345492"/>
            <a:ext cx="21717672" cy="0"/>
          </a:xfrm>
          <a:prstGeom prst="line">
            <a:avLst/>
          </a:prstGeom>
          <a:ln cap="rnd" w="76200">
            <a:gradFill>
              <a:gsLst>
                <a:gs pos="0">
                  <a:srgbClr val="AF976B">
                    <a:alpha val="100000"/>
                  </a:srgbClr>
                </a:gs>
                <a:gs pos="100000">
                  <a:srgbClr val="79643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4122590"/>
            <a:ext cx="16230600" cy="5709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9"/>
              </a:lnSpc>
            </a:pPr>
            <a:r>
              <a:rPr lang="en-US" sz="33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1-</a:t>
            </a:r>
          </a:p>
          <a:p>
            <a:pPr algn="l">
              <a:lnSpc>
                <a:spcPts val="5099"/>
              </a:lnSpc>
            </a:pPr>
            <a:r>
              <a:rPr lang="en-US" sz="33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print("Olá, mundo!")</a:t>
            </a:r>
          </a:p>
          <a:p>
            <a:pPr algn="l">
              <a:lnSpc>
                <a:spcPts val="5099"/>
              </a:lnSpc>
            </a:pPr>
          </a:p>
          <a:p>
            <a:pPr algn="l">
              <a:lnSpc>
                <a:spcPts val="5099"/>
              </a:lnSpc>
            </a:pPr>
            <a:r>
              <a:rPr lang="en-US" sz="33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2-numero1 = 10</a:t>
            </a:r>
          </a:p>
          <a:p>
            <a:pPr algn="l">
              <a:lnSpc>
                <a:spcPts val="5099"/>
              </a:lnSpc>
            </a:pPr>
            <a:r>
              <a:rPr lang="en-US" sz="33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numero2 = 5</a:t>
            </a:r>
          </a:p>
          <a:p>
            <a:pPr algn="l">
              <a:lnSpc>
                <a:spcPts val="5099"/>
              </a:lnSpc>
            </a:pPr>
          </a:p>
          <a:p>
            <a:pPr algn="l">
              <a:lnSpc>
                <a:spcPts val="5099"/>
              </a:lnSpc>
            </a:pPr>
            <a:r>
              <a:rPr lang="en-US" sz="33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soma = numero1 + numero2</a:t>
            </a:r>
          </a:p>
          <a:p>
            <a:pPr algn="l">
              <a:lnSpc>
                <a:spcPts val="5099"/>
              </a:lnSpc>
            </a:pPr>
          </a:p>
          <a:p>
            <a:pPr algn="l">
              <a:lnSpc>
                <a:spcPts val="5099"/>
              </a:lnSpc>
            </a:pPr>
            <a:r>
              <a:rPr lang="en-US" sz="33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print(soma)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77401" y="2899320"/>
            <a:ext cx="14981899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6000">
                <a:gradFill>
                  <a:gsLst>
                    <a:gs pos="0">
                      <a:srgbClr val="AF976B">
                        <a:alpha val="100000"/>
                      </a:srgbClr>
                    </a:gs>
                    <a:gs pos="100000">
                      <a:srgbClr val="79643F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Exemplos de código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0110E">
                <a:alpha val="100000"/>
              </a:srgbClr>
            </a:gs>
            <a:gs pos="100000">
              <a:srgbClr val="2E2C2A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-1714836" y="990600"/>
            <a:ext cx="21717672" cy="0"/>
          </a:xfrm>
          <a:prstGeom prst="line">
            <a:avLst/>
          </a:prstGeom>
          <a:ln cap="rnd" w="76200">
            <a:gradFill>
              <a:gsLst>
                <a:gs pos="0">
                  <a:srgbClr val="AF976B">
                    <a:alpha val="100000"/>
                  </a:srgbClr>
                </a:gs>
                <a:gs pos="100000">
                  <a:srgbClr val="79643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5400000">
            <a:off x="987538" y="3196297"/>
            <a:ext cx="658585" cy="576262"/>
            <a:chOff x="0" y="0"/>
            <a:chExt cx="812800" cy="711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F976B">
                    <a:alpha val="100000"/>
                  </a:srgbClr>
                </a:gs>
                <a:gs pos="100000">
                  <a:srgbClr val="79643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9144000" y="1345492"/>
            <a:ext cx="21717672" cy="0"/>
          </a:xfrm>
          <a:prstGeom prst="line">
            <a:avLst/>
          </a:prstGeom>
          <a:ln cap="rnd" w="76200">
            <a:gradFill>
              <a:gsLst>
                <a:gs pos="0">
                  <a:srgbClr val="AF976B">
                    <a:alpha val="100000"/>
                  </a:srgbClr>
                </a:gs>
                <a:gs pos="100000">
                  <a:srgbClr val="79643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4456637"/>
            <a:ext cx="16230600" cy="5029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2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 Python pode ser utilizada em diversas áreas da tecnologia por ser uma linguagem versátil e fácil de usar. Uma das principais áreas de aplicação é o desenvolvimento web, sendo usada na criação de sites e sistemas online. Também é muito utilizada em inteligência artificial e ciência de dados, ajudando na análise de informações e no treinamento de algoritmos. </a:t>
            </a:r>
          </a:p>
          <a:p>
            <a:pPr algn="l">
              <a:lnSpc>
                <a:spcPts val="4499"/>
              </a:lnSpc>
            </a:pPr>
          </a:p>
          <a:p>
            <a:pPr algn="l">
              <a:lnSpc>
                <a:spcPts val="4499"/>
              </a:lnSpc>
            </a:pPr>
            <a:r>
              <a:rPr lang="en-US" sz="2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Outra área importante é a automação de tarefas, permitindo criar programas que realizam atividades repetitivas automaticamente. Python também é bastante usada no desenvolvimento de jogos, aplicativos e softwares desktop. Além disso, a linguagem é aplicada em segurança digital, computação em nuvem e até em projetos científicos e acadêmicos.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77401" y="3027215"/>
            <a:ext cx="14981899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gradFill>
                  <a:gsLst>
                    <a:gs pos="0">
                      <a:srgbClr val="AF976B">
                        <a:alpha val="100000"/>
                      </a:srgbClr>
                    </a:gs>
                    <a:gs pos="100000">
                      <a:srgbClr val="79643F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Áreas de aplicação</a:t>
            </a:r>
          </a:p>
          <a:p>
            <a:pPr algn="l">
              <a:lnSpc>
                <a:spcPts val="7200"/>
              </a:lnSpc>
            </a:pPr>
          </a:p>
          <a:p>
            <a:pPr algn="l">
              <a:lnSpc>
                <a:spcPts val="72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0110E">
                <a:alpha val="100000"/>
              </a:srgbClr>
            </a:gs>
            <a:gs pos="100000">
              <a:srgbClr val="2E2C2A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-1714836" y="990600"/>
            <a:ext cx="21717672" cy="0"/>
          </a:xfrm>
          <a:prstGeom prst="line">
            <a:avLst/>
          </a:prstGeom>
          <a:ln cap="rnd" w="76200">
            <a:gradFill>
              <a:gsLst>
                <a:gs pos="0">
                  <a:srgbClr val="AF976B">
                    <a:alpha val="100000"/>
                  </a:srgbClr>
                </a:gs>
                <a:gs pos="100000">
                  <a:srgbClr val="79643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5400000">
            <a:off x="987538" y="3196297"/>
            <a:ext cx="658585" cy="576262"/>
            <a:chOff x="0" y="0"/>
            <a:chExt cx="812800" cy="711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F976B">
                    <a:alpha val="100000"/>
                  </a:srgbClr>
                </a:gs>
                <a:gs pos="100000">
                  <a:srgbClr val="79643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9144000" y="1345492"/>
            <a:ext cx="21717672" cy="0"/>
          </a:xfrm>
          <a:prstGeom prst="line">
            <a:avLst/>
          </a:prstGeom>
          <a:ln cap="rnd" w="76200">
            <a:gradFill>
              <a:gsLst>
                <a:gs pos="0">
                  <a:srgbClr val="AF976B">
                    <a:alpha val="100000"/>
                  </a:srgbClr>
                </a:gs>
                <a:gs pos="100000">
                  <a:srgbClr val="79643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4456637"/>
            <a:ext cx="16230600" cy="3905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2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 Python possui várias vantagens que ajudam a explicar sua popularidade. Entre elas estão a sintaxe simples e fácil de aprender, o que facilita o desenvolvimento de programas e o aprendizado para iniciantes. A linguagem também possui uma grande quantidade de bibliotecas prontas, permitindo criar projetos de forma mais rápida. Além disso, Python é muito versátil, podendo ser usada em áreas como desenvolvimento web, inteligência artificial, automação e análise de dados. Outro ponto positivo é sua grande comunidade, que oferece suporte, tutoriais e ferramentas gratuitas.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77401" y="3027215"/>
            <a:ext cx="14981899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gradFill>
                  <a:gsLst>
                    <a:gs pos="0">
                      <a:srgbClr val="AF976B">
                        <a:alpha val="100000"/>
                      </a:srgbClr>
                    </a:gs>
                    <a:gs pos="100000">
                      <a:srgbClr val="79643F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Vantagens e desvantagens</a:t>
            </a:r>
          </a:p>
          <a:p>
            <a:pPr algn="l">
              <a:lnSpc>
                <a:spcPts val="7200"/>
              </a:lnSpc>
            </a:pPr>
          </a:p>
          <a:p>
            <a:pPr algn="l">
              <a:lnSpc>
                <a:spcPts val="720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0110E">
                <a:alpha val="100000"/>
              </a:srgbClr>
            </a:gs>
            <a:gs pos="100000">
              <a:srgbClr val="2E2C2A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-1714836" y="990600"/>
            <a:ext cx="21717672" cy="0"/>
          </a:xfrm>
          <a:prstGeom prst="line">
            <a:avLst/>
          </a:prstGeom>
          <a:ln cap="rnd" w="76200">
            <a:gradFill>
              <a:gsLst>
                <a:gs pos="0">
                  <a:srgbClr val="AF976B">
                    <a:alpha val="100000"/>
                  </a:srgbClr>
                </a:gs>
                <a:gs pos="100000">
                  <a:srgbClr val="79643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5400000">
            <a:off x="987538" y="3196297"/>
            <a:ext cx="658585" cy="576262"/>
            <a:chOff x="0" y="0"/>
            <a:chExt cx="812800" cy="711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F976B">
                    <a:alpha val="100000"/>
                  </a:srgbClr>
                </a:gs>
                <a:gs pos="100000">
                  <a:srgbClr val="79643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9144000" y="1345492"/>
            <a:ext cx="21717672" cy="0"/>
          </a:xfrm>
          <a:prstGeom prst="line">
            <a:avLst/>
          </a:prstGeom>
          <a:ln cap="rnd" w="76200">
            <a:gradFill>
              <a:gsLst>
                <a:gs pos="0">
                  <a:srgbClr val="AF976B">
                    <a:alpha val="100000"/>
                  </a:srgbClr>
                </a:gs>
                <a:gs pos="100000">
                  <a:srgbClr val="79643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4456637"/>
            <a:ext cx="16230600" cy="5029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2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Dive</a:t>
            </a:r>
            <a:r>
              <a:rPr lang="en-US" sz="2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rsas empresas famosas utilizam a Python em seus sistemas e projetos tecnológicos. A </a:t>
            </a:r>
            <a:r>
              <a:rPr lang="en-US" sz="2999" u="sng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2" tooltip="https://www.google.com/?utm_source=chatgpt.com"/>
              </a:rPr>
              <a:t>Google</a:t>
            </a:r>
            <a:r>
              <a:rPr lang="en-US" sz="2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usa Python em automações, inteligência artificial e serviços internos. A </a:t>
            </a:r>
            <a:r>
              <a:rPr lang="en-US" sz="2999" u="sng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3" tooltip="https://www.netflix.com/?utm_source=chatgpt.com"/>
              </a:rPr>
              <a:t>Netflix</a:t>
            </a:r>
            <a:r>
              <a:rPr lang="en-US" sz="2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utiliza a linguagem para análise de dados, recomendações de filmes e automação de servidores. Já o </a:t>
            </a:r>
            <a:r>
              <a:rPr lang="en-US" sz="2999" u="sng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4" tooltip="https://www.spotify.com/?utm_source=chatgpt.com"/>
              </a:rPr>
              <a:t>Spotify</a:t>
            </a:r>
            <a:r>
              <a:rPr lang="en-US" sz="2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aplica Python em sistemas de recomendação de músicas e processamento de dados.</a:t>
            </a:r>
          </a:p>
          <a:p>
            <a:pPr algn="l">
              <a:lnSpc>
                <a:spcPts val="4499"/>
              </a:lnSpc>
            </a:pPr>
          </a:p>
          <a:p>
            <a:pPr algn="l">
              <a:lnSpc>
                <a:spcPts val="4499"/>
              </a:lnSpc>
            </a:pPr>
            <a:r>
              <a:rPr lang="en-US" sz="2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Outras empresas que também utilizam Python são a </a:t>
            </a:r>
            <a:r>
              <a:rPr lang="en-US" sz="2999" u="sng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5" tooltip="https://www.instagram.com/?utm_source=chatgpt.com"/>
              </a:rPr>
              <a:t>Instagram</a:t>
            </a:r>
            <a:r>
              <a:rPr lang="en-US" sz="2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no desenvolvimento da plataforma, a </a:t>
            </a:r>
            <a:r>
              <a:rPr lang="en-US" sz="2999" u="sng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6" tooltip="https://www.nasa.gov/?utm_source=chatgpt.com"/>
              </a:rPr>
              <a:t>NASA</a:t>
            </a:r>
            <a:r>
              <a:rPr lang="en-US" sz="2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em projetos científicos e automações, e a </a:t>
            </a:r>
            <a:r>
              <a:rPr lang="en-US" sz="2999" u="sng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7" tooltip="https://www.dropbox.com/?utm_source=chatgpt.com"/>
              </a:rPr>
              <a:t>Dropbox</a:t>
            </a:r>
            <a:r>
              <a:rPr lang="en-US" sz="2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que usa a linguagem em seus serviços de armazenamento em nuvem. Essas empresas escolhem Python principalmente por sua simplicidade, produtividade e grande quantidade de bibliotecas disponíveis.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77401" y="3027215"/>
            <a:ext cx="14981899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6000">
                <a:gradFill>
                  <a:gsLst>
                    <a:gs pos="0">
                      <a:srgbClr val="AF976B">
                        <a:alpha val="100000"/>
                      </a:srgbClr>
                    </a:gs>
                    <a:gs pos="100000">
                      <a:srgbClr val="79643F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Empresas que utilizam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0110E">
                <a:alpha val="100000"/>
              </a:srgbClr>
            </a:gs>
            <a:gs pos="100000">
              <a:srgbClr val="2E2C2A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-1714836" y="990600"/>
            <a:ext cx="21717672" cy="0"/>
          </a:xfrm>
          <a:prstGeom prst="line">
            <a:avLst/>
          </a:prstGeom>
          <a:ln cap="rnd" w="76200">
            <a:gradFill>
              <a:gsLst>
                <a:gs pos="0">
                  <a:srgbClr val="AF976B">
                    <a:alpha val="100000"/>
                  </a:srgbClr>
                </a:gs>
                <a:gs pos="100000">
                  <a:srgbClr val="79643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5400000">
            <a:off x="987538" y="3196297"/>
            <a:ext cx="658585" cy="576262"/>
            <a:chOff x="0" y="0"/>
            <a:chExt cx="812800" cy="711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F976B">
                    <a:alpha val="100000"/>
                  </a:srgbClr>
                </a:gs>
                <a:gs pos="100000">
                  <a:srgbClr val="79643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9144000" y="1345492"/>
            <a:ext cx="21717672" cy="0"/>
          </a:xfrm>
          <a:prstGeom prst="line">
            <a:avLst/>
          </a:prstGeom>
          <a:ln cap="rnd" w="76200">
            <a:gradFill>
              <a:gsLst>
                <a:gs pos="0">
                  <a:srgbClr val="AF976B">
                    <a:alpha val="100000"/>
                  </a:srgbClr>
                </a:gs>
                <a:gs pos="100000">
                  <a:srgbClr val="79643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4456637"/>
            <a:ext cx="16230600" cy="5029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2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 Python possui várias curiosidades interessantes. O nome da linguagem não foi inspirado na cobra Python, mas sim no grupo de comédia britânico “Monty Python”, que era um dos favoritos do criador Guido van Rossum.</a:t>
            </a:r>
          </a:p>
          <a:p>
            <a:pPr algn="l">
              <a:lnSpc>
                <a:spcPts val="4499"/>
              </a:lnSpc>
            </a:pPr>
          </a:p>
          <a:p>
            <a:pPr algn="l">
              <a:lnSpc>
                <a:spcPts val="4499"/>
              </a:lnSpc>
            </a:pPr>
            <a:r>
              <a:rPr lang="en-US" sz="2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Outra curiosidade é que Python foi criada no final dos anos 1980 e lançada oficialmente em 1991. Desde então, ela cresceu rapidamente e se tornou uma das linguagens mais utilizadas do mundo. Além disso, Python é muito famosa por possuir uma sintaxe simples e parecida com a linguagem humana, o que facilita o aprendizado.</a:t>
            </a:r>
          </a:p>
          <a:p>
            <a:pPr algn="l">
              <a:lnSpc>
                <a:spcPts val="44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277401" y="3027215"/>
            <a:ext cx="14981899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gradFill>
                  <a:gsLst>
                    <a:gs pos="0">
                      <a:srgbClr val="AF976B">
                        <a:alpha val="100000"/>
                      </a:srgbClr>
                    </a:gs>
                    <a:gs pos="100000">
                      <a:srgbClr val="79643F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Curiosidades</a:t>
            </a:r>
          </a:p>
          <a:p>
            <a:pPr algn="l">
              <a:lnSpc>
                <a:spcPts val="7200"/>
              </a:lnSpc>
            </a:pPr>
          </a:p>
          <a:p>
            <a:pPr algn="l">
              <a:lnSpc>
                <a:spcPts val="720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DAHKzu3byKc</dc:identifier>
  <dcterms:modified xsi:type="dcterms:W3CDTF">2011-08-01T06:04:30Z</dcterms:modified>
  <cp:revision>1</cp:revision>
  <dc:title>Apresentação sobre Python</dc:title>
</cp:coreProperties>
</file>